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127796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3400" y="263400"/>
            <a:ext cx="8466455" cy="470358"/>
          </a:xfrm>
          <a:prstGeom prst="rect">
            <a:avLst/>
          </a:prstGeom>
          <a:noFill/>
        </p:spPr>
        <p:txBody>
          <a:bodyPr wrap="square" lIns="65850" rIns="65850" tIns="28221" anchor="t">
            <a:spAutoFit/>
          </a:bodyPr>
          <a:lstStyle/>
          <a:p>
            <a:r>
              <a:rPr sz="848" b="1">
                <a:solidFill>
                  <a:srgbClr val="7A5C00"/>
                </a:solidFill>
                <a:latin typeface="IBM Plex Sans"/>
              </a:rPr>
              <a:t>LOGICAL ARCHITECTURE · BASELINE V2 · DRAFT</a:t>
            </a:r>
          </a:p>
          <a:p>
            <a:r>
              <a:rPr sz="1542" b="1">
                <a:solidFill>
                  <a:srgbClr val="0B1B33"/>
                </a:solidFill>
                <a:latin typeface="IBM Plex Sans"/>
              </a:rPr>
              <a:t>Logical architecture, target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3400" y="799609"/>
            <a:ext cx="2069577" cy="3339546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E3A8A"/>
                </a:solidFill>
                <a:latin typeface="IBM Plex Sans"/>
              </a:rPr>
              <a:t>Plant edge and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62229" y="799609"/>
            <a:ext cx="2069577" cy="3903976"/>
          </a:xfrm>
          <a:prstGeom prst="roundRect">
            <a:avLst>
              <a:gd name="adj" fmla="val 4000"/>
            </a:avLst>
          </a:prstGeom>
          <a:solidFill>
            <a:srgbClr val="FFF6D8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7A5C00"/>
                </a:solidFill>
                <a:latin typeface="IBM Plex Sans"/>
              </a:rPr>
              <a:t>Event backbone (single entry point)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1058" y="799609"/>
            <a:ext cx="2069577" cy="3339546"/>
          </a:xfrm>
          <a:prstGeom prst="roundRect">
            <a:avLst>
              <a:gd name="adj" fmla="val 4000"/>
            </a:avLst>
          </a:prstGeom>
          <a:solidFill>
            <a:srgbClr val="E7F8FB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55E75"/>
                </a:solidFill>
                <a:latin typeface="IBM Plex Sans"/>
              </a:rPr>
              <a:t>Application layer, deterministic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9887" y="799609"/>
            <a:ext cx="2069577" cy="2671636"/>
          </a:xfrm>
          <a:prstGeom prst="roundRect">
            <a:avLst>
              <a:gd name="adj" fmla="val 4000"/>
            </a:avLst>
          </a:prstGeom>
          <a:solidFill>
            <a:srgbClr val="F3EE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5B21B6"/>
                </a:solidFill>
                <a:latin typeface="IBM Plex Sans"/>
              </a:rPr>
              <a:t>Agent layer, probabilistic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9887" y="3593539"/>
            <a:ext cx="2069577" cy="133581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334155"/>
                </a:solidFill>
                <a:latin typeface="IBM Plex Sans"/>
              </a:rPr>
              <a:t>Enterprise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8716" y="799609"/>
            <a:ext cx="2069577" cy="3094959"/>
          </a:xfrm>
          <a:prstGeom prst="roundRect">
            <a:avLst>
              <a:gd name="adj" fmla="val 4000"/>
            </a:avLst>
          </a:prstGeom>
          <a:solidFill>
            <a:srgbClr val="E7F8E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065F46"/>
                </a:solidFill>
                <a:latin typeface="IBM Plex Sans"/>
              </a:rPr>
              <a:t>Data stores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58716" y="4016862"/>
            <a:ext cx="2069577" cy="1618033"/>
          </a:xfrm>
          <a:prstGeom prst="roundRect">
            <a:avLst>
              <a:gd name="adj" fmla="val 4000"/>
            </a:avLst>
          </a:prstGeom>
          <a:solidFill>
            <a:srgbClr val="E7F7F4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15E59"/>
                </a:solidFill>
                <a:latin typeface="IBM Plex Sans"/>
              </a:rPr>
              <a:t>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62229" y="5973554"/>
            <a:ext cx="9266064" cy="893681"/>
          </a:xfrm>
          <a:prstGeom prst="roundRect">
            <a:avLst>
              <a:gd name="adj" fmla="val 4000"/>
            </a:avLst>
          </a:prstGeom>
          <a:solidFill>
            <a:srgbClr val="FFF6D8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7A5C00"/>
                </a:solidFill>
                <a:latin typeface="IBM Plex Sans"/>
              </a:rPr>
              <a:t>Publish and subscribe on the backbone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472" y="1063010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Tool fleet, three plants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Etch, deposition, strip, clean tools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Sensors via plant IoT gateways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472" y="1730919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Offline instruments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Oscilloscope, RF meter printouts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Upload telemetry, read and confirmed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472" y="2398828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Operator report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Manual ticket with tool and sensor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472" y="292563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Quality and supplier events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QMS nonconformance, supplier notice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7472" y="345243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Simulator control plane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Scenarios, fault injection, hard and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soft reset, replay vs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56301" y="1063010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Telemetry stream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Azure Event Hubs (IoT Hub ingress)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Partitioned by tool, ordered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6301" y="1730919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Command and event topics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Azure Service Bus topics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System and application commands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56301" y="2398828"/>
            <a:ext cx="1881434" cy="8654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Message envelope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eventId, type, correlationId,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causationId, parentEventId,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sequence, source, site, tool, time,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payload, schema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6301" y="3348953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Command catalog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Defined as data: who may issue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it and which events it emits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56301" y="401686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Event log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Append-only, indexed by correlation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Rebuilds every causal chain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5130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SPC monitoring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Control limits, Western Electric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5130" y="158981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Business rules engine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Ticket creation, escalation, routing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Rules and process maps are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5130" y="2257721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Lifecycle state machines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Alert, ticket, investigation,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approval, CAPA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55130" y="2925630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Evidence gate and grounding check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Weak or conflicting evidence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escalates to a person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5130" y="3593539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Approval and action service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Human approves before any CAPA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3959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5B21B6"/>
                </a:solidFill>
                <a:latin typeface="IBM Plex Sans"/>
              </a:rPr>
              <a:t>Investigation orchestrator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Microsoft Agent Framework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53959" y="158981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5B21B6"/>
                </a:solidFill>
                <a:latin typeface="IBM Plex Sans"/>
              </a:rPr>
              <a:t>Investigation agent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Read-only tools over enterprise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systems and documents below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3959" y="2257721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5B21B6"/>
                </a:solidFill>
                <a:latin typeface="IBM Plex Sans"/>
              </a:rPr>
              <a:t>Resolution agent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Ranks root cause, no tools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3959" y="278452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5B21B6"/>
                </a:solidFill>
                <a:latin typeface="IBM Plex Sans"/>
              </a:rPr>
              <a:t>Model gateway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Routing, retries, daily spend cap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Azure OpenAI gpt-5.4-mini, replay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3959" y="385694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334155"/>
                </a:solidFill>
                <a:latin typeface="IBM Plex Sans"/>
              </a:rPr>
              <a:t>Mocked enterprise systems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MES, QMS, PLM, ERP, maintenance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3959" y="4383742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334155"/>
                </a:solidFill>
                <a:latin typeface="IBM Plex Sans"/>
              </a:rPr>
              <a:t>Document store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SOPs, FMEA, bulletins, search index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52788" y="1063010"/>
            <a:ext cx="1881434" cy="724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Metadata store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Company, site, capability, line, tool,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parameter, limits, rules, process maps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Relational (Azure SQL)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52788" y="1872027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Telemetry store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Time series (Azure Data Explorer)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Retention policy, fast windows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52788" y="2539936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Transaction store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Alerts, tickets, investigations,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approvals, CAPA, audit (Azure SQL)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52788" y="3207845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Causal graph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Event lineage and genealogy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Graph store, optional (Cosmos DB)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52788" y="4280263"/>
            <a:ext cx="1881434" cy="724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15E59"/>
                </a:solidFill>
                <a:latin typeface="IBM Plex Sans"/>
              </a:rPr>
              <a:t>Meridian FabOps console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Sites, fleet, alerts, tickets,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investigation, approval, CAPA,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rules and process, causal trace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52788" y="508928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15E59"/>
                </a:solidFill>
                <a:latin typeface="IBM Plex Sans"/>
              </a:rPr>
              <a:t>Live push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SignalR fed by bus subscriptions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56301" y="6199326"/>
            <a:ext cx="9077921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Every layer is a bus participant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Rules, SPC, lifecycle, agents, stores and live push subscribe to typed topics and publish results with causationId set to the triggering event,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so one fault command fans out into readings, alert, ticket, investigation steps, approval and CAPA, all on one correlationId.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238906" y="1354632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38906" y="2022542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38906" y="2619897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591675" y="2022542"/>
            <a:ext cx="0" cy="597355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591675" y="2022542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38906" y="3146699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591675" y="2022542"/>
            <a:ext cx="0" cy="1124157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91675" y="2022542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38906" y="3744054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591675" y="2022542"/>
            <a:ext cx="0" cy="1721512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591675" y="2022542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637735" y="1354632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90504" y="1284079"/>
            <a:ext cx="0" cy="70553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90504" y="1284079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637735" y="2022542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990504" y="1881434"/>
            <a:ext cx="0" cy="141108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990504" y="1881434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036564" y="1881434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389333" y="1284079"/>
            <a:ext cx="0" cy="597355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89333" y="1284079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225772" y="6989528"/>
            <a:ext cx="7431666" cy="987753"/>
          </a:xfrm>
          <a:prstGeom prst="rect">
            <a:avLst/>
          </a:prstGeom>
          <a:solidFill>
            <a:srgbClr val="FFFFFF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771" b="1">
                <a:solidFill>
                  <a:srgbClr val="0B1B33"/>
                </a:solidFill>
                <a:latin typeface="IBM Plex Sans"/>
              </a:rPr>
              <a:t>NOTES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The running demo is intentionally thin. One Azure Container App, one replica, hosts the API, simulator and agents.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bus: in-process, same envelope and command catalog (ADR-008). Measured: 7-day nominal seed, 466,662 readings in 7 s (~66k events/s).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stores: metadata in YAML loaded at startup (ADR-009); telemetry, event log and transactions in SQLite; 7-day chart read under 1 ms.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tools: three simulated plants; only the Manufacturing capability is simulated. Document search runs in process.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Every telemetry reading, alert, ticket, investigation step, approval, CAPA and command travels through the event backbone.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32695" y="6989528"/>
            <a:ext cx="4233227" cy="987753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1002" b="1">
                <a:solidFill>
                  <a:srgbClr val="FAC400"/>
                </a:solidFill>
                <a:latin typeface="IBM Plex Sans"/>
              </a:rPr>
              <a:t>Meridian Precision Systems · FabOps</a:t>
            </a:r>
          </a:p>
          <a:p>
            <a:r>
              <a:rPr sz="771" b="0">
                <a:solidFill>
                  <a:srgbClr val="FFFFFF"/>
                </a:solidFill>
                <a:latin typeface="IBM Plex Sans"/>
              </a:rPr>
              <a:t>Logical architecture, target design</a:t>
            </a:r>
          </a:p>
          <a:p>
            <a:r>
              <a:rPr sz="693" b="0">
                <a:solidFill>
                  <a:srgbClr val="F3E8C2"/>
                </a:solidFill>
                <a:latin typeface="IBM Plex Sans"/>
              </a:rPr>
              <a:t>Draft 2026-10-15 · Fictional company,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127796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3400" y="263400"/>
            <a:ext cx="8466455" cy="470358"/>
          </a:xfrm>
          <a:prstGeom prst="rect">
            <a:avLst/>
          </a:prstGeom>
          <a:noFill/>
        </p:spPr>
        <p:txBody>
          <a:bodyPr wrap="square" lIns="65850" rIns="65850" tIns="28221" anchor="t">
            <a:spAutoFit/>
          </a:bodyPr>
          <a:lstStyle/>
          <a:p>
            <a:r>
              <a:rPr sz="848" b="1">
                <a:solidFill>
                  <a:srgbClr val="7A5C00"/>
                </a:solidFill>
                <a:latin typeface="IBM Plex Sans"/>
              </a:rPr>
              <a:t>PHYSICAL ARCHITECTURE · BASELINE V2 · DRAFT</a:t>
            </a:r>
          </a:p>
          <a:p>
            <a:r>
              <a:rPr sz="1542" b="1">
                <a:solidFill>
                  <a:srgbClr val="0B1B33"/>
                </a:solidFill>
                <a:latin typeface="IBM Plex Sans"/>
              </a:rPr>
              <a:t>Physical architecture, target Azure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3400" y="799609"/>
            <a:ext cx="2069577" cy="186262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E3A8A"/>
                </a:solidFill>
                <a:latin typeface="IBM Plex Sans"/>
              </a:rPr>
              <a:t>Outside Azure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62229" y="799609"/>
            <a:ext cx="2069577" cy="2003727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9A3412"/>
                </a:solidFill>
                <a:latin typeface="IBM Plex Sans"/>
              </a:rPr>
              <a:t>Edge and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1058" y="799609"/>
            <a:ext cx="2069577" cy="2916223"/>
          </a:xfrm>
          <a:prstGeom prst="roundRect">
            <a:avLst>
              <a:gd name="adj" fmla="val 4000"/>
            </a:avLst>
          </a:prstGeom>
          <a:solidFill>
            <a:srgbClr val="E7F8FB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55E75"/>
                </a:solidFill>
                <a:latin typeface="IBM Plex Sans"/>
              </a:rPr>
              <a:t>Container Apps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9887" y="799609"/>
            <a:ext cx="2069577" cy="2389421"/>
          </a:xfrm>
          <a:prstGeom prst="roundRect">
            <a:avLst>
              <a:gd name="adj" fmla="val 4000"/>
            </a:avLst>
          </a:prstGeom>
          <a:solidFill>
            <a:srgbClr val="FFF6D8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7A5C00"/>
                </a:solidFill>
                <a:latin typeface="IBM Plex Sans"/>
              </a:rPr>
              <a:t>Messaging and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58716" y="799609"/>
            <a:ext cx="2069577" cy="3057330"/>
          </a:xfrm>
          <a:prstGeom prst="roundRect">
            <a:avLst>
              <a:gd name="adj" fmla="val 4000"/>
            </a:avLst>
          </a:prstGeom>
          <a:solidFill>
            <a:srgbClr val="E7F8E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065F46"/>
                </a:solidFill>
                <a:latin typeface="IBM Plex Sans"/>
              </a:rPr>
              <a:t>Data, secrets and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2229" y="2925630"/>
            <a:ext cx="2069577" cy="133581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1E293B"/>
                </a:solidFill>
                <a:latin typeface="IBM Plex Sans"/>
              </a:rPr>
              <a:t>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472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Invited reviewers and operators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Browser, Entra ID sign-in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472" y="1589812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Plant IoT gateways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Three plants, tool 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472" y="2116613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3A8A"/>
                </a:solidFill>
                <a:latin typeface="IBM Plex Sans"/>
              </a:rPr>
              <a:t>GitHub Actions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Build, test, eval gate, OIDC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6301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9A3412"/>
                </a:solidFill>
                <a:latin typeface="IBM Plex Sans"/>
              </a:rPr>
              <a:t>Azure Front Door and WAF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Global entry, TLS, rate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6301" y="1589812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9A3412"/>
                </a:solidFill>
                <a:latin typeface="IBM Plex Sans"/>
              </a:rPr>
              <a:t>Microsoft Entra ID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Single-tenant app, assignment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required, B2B guests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6301" y="2257721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9A3412"/>
                </a:solidFill>
                <a:latin typeface="IBM Plex Sans"/>
              </a:rPr>
              <a:t>API Management AI gateway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Token limits, model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5130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Web console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React, served by the API 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130" y="1589812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API service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.NET 8, SignalR, scale 1 to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5130" y="2116613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Investigation workers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Scale on queue depth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55130" y="2643415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Simulator service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Telemetry and scenarios, 1 replica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55130" y="3170217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55E75"/>
                </a:solidFill>
                <a:latin typeface="IBM Plex Sans"/>
              </a:rPr>
              <a:t>Mock enterprise APIs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MES, QMS, PLM, ERP, maintenance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3959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Azure IoT Hub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Device ingress from gateways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3959" y="1589812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Azure Event Hubs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Telemetry stream, per-tool partitions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3959" y="2116613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Azure Service Bus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Command and domain event topics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3959" y="2643415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Azure OpenAI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gpt-5.4-mini, eastus2, quota capped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52788" y="1063010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Azure SQL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Metadata, transactions,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52788" y="1589812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Azure Data Explorer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Telemetry time series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52788" y="2116613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Azure AI Search *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Document index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52788" y="2643415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Key Vault and managed identity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No keys in code or Git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52788" y="3170217"/>
            <a:ext cx="1881434" cy="5832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Monitoring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 Insights, Log Analytics,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budget alert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56301" y="3189031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293B"/>
                </a:solidFill>
                <a:latin typeface="IBM Plex Sans"/>
              </a:rPr>
              <a:t>Container Registry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Signed images, revisions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56301" y="3715833"/>
            <a:ext cx="1881434" cy="44213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1E293B"/>
                </a:solidFill>
                <a:latin typeface="IBM Plex Sans"/>
              </a:rPr>
              <a:t>Resource group rg-mps-demo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Isolated, own identity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38906" y="1284079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8906" y="2337682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91675" y="2337682"/>
            <a:ext cx="0" cy="1072417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91675" y="3410099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637735" y="1284079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637735" y="2478789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990504" y="2337682"/>
            <a:ext cx="0" cy="141107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90504" y="2337682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36564" y="1810880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89333" y="1810880"/>
            <a:ext cx="0" cy="526802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89333" y="2337682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36564" y="2864483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89333" y="1810880"/>
            <a:ext cx="0" cy="1053603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89333" y="1810880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036564" y="2337682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389333" y="2337682"/>
            <a:ext cx="0" cy="526801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389333" y="2864483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435393" y="1284079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88162" y="1284079"/>
            <a:ext cx="0" cy="526801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788162" y="1810880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435393" y="1810880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435393" y="2337682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788162" y="1284079"/>
            <a:ext cx="0" cy="1053603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88162" y="1284079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35393" y="2864483"/>
            <a:ext cx="517395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25772" y="6989528"/>
            <a:ext cx="7431666" cy="987753"/>
          </a:xfrm>
          <a:prstGeom prst="rect">
            <a:avLst/>
          </a:prstGeom>
          <a:solidFill>
            <a:srgbClr val="FFFFFF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771" b="1">
                <a:solidFill>
                  <a:srgbClr val="0B1B33"/>
                </a:solidFill>
                <a:latin typeface="IBM Plex Sans"/>
              </a:rPr>
              <a:t>NOTES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Running demo today: ONE Container App (mpsdemo-api, 1 replica) in rg-mps-demo holds the web console, API, simulator, agents and mock systems.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messaging: in-process bus in that container instead of IoT Hub, Event Hubs and Service Bus. Same envelope, so it can be swapped later.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storage: SQLite on the container plus YAML metadata instead of Azure SQL and Data Explorer; data resets on redeploy by design.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Not deployed in the demo: Front Door, WAF, API Management, AI Search, separate workers. Deployed: Entra ID, Key Vault, managed identity,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  Container Registry, Azure OpenAI, App Insights and Log Analytics. Deploys run from GitHub Actions with OIDC, no stored cloud secrets.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32695" y="6989528"/>
            <a:ext cx="4233227" cy="987753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1002" b="1">
                <a:solidFill>
                  <a:srgbClr val="FAC400"/>
                </a:solidFill>
                <a:latin typeface="IBM Plex Sans"/>
              </a:rPr>
              <a:t>Meridian Precision Systems · FabOps</a:t>
            </a:r>
          </a:p>
          <a:p>
            <a:r>
              <a:rPr sz="771" b="0">
                <a:solidFill>
                  <a:srgbClr val="FFFFFF"/>
                </a:solidFill>
                <a:latin typeface="IBM Plex Sans"/>
              </a:rPr>
              <a:t>Physical architecture, target Azure deployment</a:t>
            </a:r>
          </a:p>
          <a:p>
            <a:r>
              <a:rPr sz="693" b="0">
                <a:solidFill>
                  <a:srgbClr val="F3E8C2"/>
                </a:solidFill>
                <a:latin typeface="IBM Plex Sans"/>
              </a:rPr>
              <a:t>Draft 2026-10-15 · Fictional company, synthetic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127796"/>
          </a:xfrm>
          <a:prstGeom prst="rect">
            <a:avLst/>
          </a:prstGeom>
          <a:solidFill>
            <a:srgbClr val="F7F4EA"/>
          </a:solidFill>
          <a:ln w="12700">
            <a:solidFill>
              <a:srgbClr val="F7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3400" y="263400"/>
            <a:ext cx="8466455" cy="470358"/>
          </a:xfrm>
          <a:prstGeom prst="rect">
            <a:avLst/>
          </a:prstGeom>
          <a:noFill/>
        </p:spPr>
        <p:txBody>
          <a:bodyPr wrap="square" lIns="65850" rIns="65850" tIns="28221" anchor="t">
            <a:spAutoFit/>
          </a:bodyPr>
          <a:lstStyle/>
          <a:p>
            <a:r>
              <a:rPr sz="848" b="1">
                <a:solidFill>
                  <a:srgbClr val="7A5C00"/>
                </a:solidFill>
                <a:latin typeface="IBM Plex Sans"/>
              </a:rPr>
              <a:t>DATA MODEL · BASELINE V2 · DRAFT</a:t>
            </a:r>
          </a:p>
          <a:p>
            <a:r>
              <a:rPr sz="1542" b="1">
                <a:solidFill>
                  <a:srgbClr val="0B1B33"/>
                </a:solidFill>
                <a:latin typeface="IBM Plex Sans"/>
              </a:rPr>
              <a:t>Data model, entities and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3400" y="799609"/>
            <a:ext cx="4468406" cy="5409124"/>
          </a:xfrm>
          <a:prstGeom prst="roundRect">
            <a:avLst>
              <a:gd name="adj" fmla="val 4000"/>
            </a:avLst>
          </a:prstGeom>
          <a:solidFill>
            <a:srgbClr val="E7F8E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065F46"/>
                </a:solidFill>
                <a:latin typeface="IBM Plex Sans"/>
              </a:rPr>
              <a:t>Metadata (durable, kept by every reset)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1058" y="799609"/>
            <a:ext cx="6867235" cy="5409124"/>
          </a:xfrm>
          <a:prstGeom prst="roundRect">
            <a:avLst>
              <a:gd name="adj" fmla="val 4000"/>
            </a:avLst>
          </a:prstGeom>
          <a:solidFill>
            <a:srgbClr val="FFF6D8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925" b="1">
                <a:solidFill>
                  <a:srgbClr val="7A5C00"/>
                </a:solidFill>
                <a:latin typeface="IBM Plex Sans"/>
              </a:rPr>
              <a:t>Transactions and telemetry (purged by hard reset)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472" y="1081824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Company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name, purpose, industry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7472" y="1881434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Site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name, region, timezone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company (FK)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472" y="2681044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Capability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type: Manufacturing, Warehousing,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 and D, Sales, Back office, Other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simulated (yes or no), site (FK)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472" y="3715833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Production line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type: etch, deposition, strip,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clean, end-to-end; characteristics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capability (FK)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56301" y="1081824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Tool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identity, model, tool type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line (FK) or capability (FK)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inputs, outputs (wafer, gas, power)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6301" y="2163649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Tool parameter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name, unit, nominal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UCL, LCL, alert thresholds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tool (FK), chamber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6301" y="3245474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Business rule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when (condition), then (action)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priority, plain-language reason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applies to site, tool or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6301" y="4327299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Process map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current or future state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ordered steps and transitions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rule (FK) per transition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472" y="4938765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065F46"/>
                </a:solidFill>
                <a:latin typeface="IBM Plex Sans"/>
              </a:rPr>
              <a:t>Command catalog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name, system or application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payload schema, events emitted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5130" y="1081824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Event (bus envelope)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eventId, type, sequence, time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correlationId, causationId,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parentEventId, source, site,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5130" y="2304757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Telemetry reading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tool parameter (FK), time, value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eventId (FK)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5130" y="3245474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Alert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SPC rule, severity, value vs limit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triggering event (FK)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3959" y="1081824"/>
            <a:ext cx="1881434" cy="6961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Ticket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source: SPC, operator, upload,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QMS, supplier; status, priority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rule fired (FK)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53959" y="2304757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Investigation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status, confidence, cause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ticket (FK), escalated (yes or no)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3959" y="3386581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Evidence item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finding, value vs spec, time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source events (FK to Event)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2788" y="1081824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Approval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decision, approver, reason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investigation (FK)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52788" y="2163649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CAPA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action, owner, due, status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approval (FK)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52788" y="3245474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Scenario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plain-language card, sensors moved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recorded messages for replay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5130" y="4374335"/>
            <a:ext cx="1881434" cy="56443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A162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848" b="1">
                <a:solidFill>
                  <a:srgbClr val="7A5C00"/>
                </a:solidFill>
                <a:latin typeface="IBM Plex Sans"/>
              </a:rPr>
              <a:t>Uploaded document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instrument printout, readings found</a:t>
            </a:r>
          </a:p>
          <a:p>
            <a:r>
              <a:rPr sz="693" b="0">
                <a:solidFill>
                  <a:srgbClr val="1F2937"/>
                </a:solidFill>
                <a:latin typeface="IBM Plex Sans"/>
              </a:rPr>
              <a:t>confirmed by (person)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98189" y="1646255"/>
            <a:ext cx="0" cy="235179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98189" y="2445864"/>
            <a:ext cx="0" cy="23518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98189" y="3377174"/>
            <a:ext cx="0" cy="338659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38906" y="4063898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591675" y="1429890"/>
            <a:ext cx="0" cy="2634008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591675" y="1429890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97018" y="1777955"/>
            <a:ext cx="0" cy="385694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97018" y="2859780"/>
            <a:ext cx="0" cy="385694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97018" y="3941605"/>
            <a:ext cx="0" cy="385694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5847" y="1777955"/>
            <a:ext cx="0" cy="526802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847" y="2869187"/>
            <a:ext cx="0" cy="376287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036564" y="3527689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389333" y="1429890"/>
            <a:ext cx="0" cy="2097799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89333" y="1429890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94676" y="1777955"/>
            <a:ext cx="0" cy="526802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94676" y="2869187"/>
            <a:ext cx="0" cy="517394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435393" y="1429890"/>
            <a:ext cx="352769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788162" y="1364039"/>
            <a:ext cx="0" cy="65851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788162" y="1364039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93505" y="1646255"/>
            <a:ext cx="0" cy="517394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38906" y="5220980"/>
            <a:ext cx="2751598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90504" y="1429890"/>
            <a:ext cx="0" cy="379109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90504" y="1429890"/>
            <a:ext cx="164626" cy="0"/>
          </a:xfrm>
          <a:prstGeom prst="line">
            <a:avLst/>
          </a:prstGeom>
          <a:ln w="12700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25772" y="6989528"/>
            <a:ext cx="7431666" cy="987753"/>
          </a:xfrm>
          <a:prstGeom prst="rect">
            <a:avLst/>
          </a:prstGeom>
          <a:solidFill>
            <a:srgbClr val="FFFFFF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771" b="1">
                <a:solidFill>
                  <a:srgbClr val="0B1B33"/>
                </a:solidFill>
                <a:latin typeface="IBM Plex Sans"/>
              </a:rPr>
              <a:t>NOTES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Demo store is intentionally thin: metadata lives in YAML files with exactly this structure; transactions and telemetry live in SQLite.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Target store: relational (Azure SQL) for metadata and transactions, time series for telemetry, optional graph store for event lineage.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Every transaction row keeps the eventId that created it, so any item can be traced back through causationId and parentEventId to its root.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* Hard reset keeps every metadata entity and purges every transaction entity, then seeds nominal telemetry. Soft reset keeps all rows.</a:t>
            </a:r>
          </a:p>
          <a:p>
            <a:r>
              <a:rPr sz="732" b="0">
                <a:solidFill>
                  <a:srgbClr val="111827"/>
                </a:solidFill>
                <a:latin typeface="IBM Plex Sans"/>
              </a:rPr>
              <a:t>FK = reference to another entity. Capability types are all modeled; only Manufacturing is simulated in the demo.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2695" y="6989528"/>
            <a:ext cx="4233227" cy="987753"/>
          </a:xfrm>
          <a:prstGeom prst="rect">
            <a:avLst/>
          </a:prstGeom>
          <a:solidFill>
            <a:srgbClr val="0B1B33"/>
          </a:solidFill>
          <a:ln w="12700">
            <a:solidFill>
              <a:srgbClr val="0B1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5850" rIns="65850" tIns="28221"/>
          <a:lstStyle/>
          <a:p>
            <a:pPr algn="ctr"/>
            <a:r>
              <a:rPr sz="1002" b="1">
                <a:solidFill>
                  <a:srgbClr val="FAC400"/>
                </a:solidFill>
                <a:latin typeface="IBM Plex Sans"/>
              </a:rPr>
              <a:t>Meridian Precision Systems · FabOps</a:t>
            </a:r>
          </a:p>
          <a:p>
            <a:r>
              <a:rPr sz="771" b="0">
                <a:solidFill>
                  <a:srgbClr val="FFFFFF"/>
                </a:solidFill>
                <a:latin typeface="IBM Plex Sans"/>
              </a:rPr>
              <a:t>Data model, entities and relationships</a:t>
            </a:r>
          </a:p>
          <a:p>
            <a:r>
              <a:rPr sz="693" b="0">
                <a:solidFill>
                  <a:srgbClr val="F3E8C2"/>
                </a:solidFill>
                <a:latin typeface="IBM Plex Sans"/>
              </a:rPr>
              <a:t>Draft 2026-10-15 · Fictional company, synthetic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